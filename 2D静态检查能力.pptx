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14"/>
  </p:notesMasterIdLst>
  <p:handoutMasterIdLst>
    <p:handoutMasterId r:id="rId15"/>
  </p:handoutMasterIdLst>
  <p:sldIdLst>
    <p:sldId id="283" r:id="rId7"/>
    <p:sldId id="282" r:id="rId8"/>
    <p:sldId id="281" r:id="rId9"/>
    <p:sldId id="286" r:id="rId10"/>
    <p:sldId id="287" r:id="rId11"/>
    <p:sldId id="285" r:id="rId12"/>
    <p:sldId id="280" r:id="rId13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6"/>
            <p14:sldId id="287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682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 showGuides="1">
      <p:cViewPr varScale="1">
        <p:scale>
          <a:sx n="88" d="100"/>
          <a:sy n="88" d="100"/>
        </p:scale>
        <p:origin x="460" y="68"/>
      </p:cViewPr>
      <p:guideLst>
        <p:guide pos="3682"/>
        <p:guide orient="horz" pos="2159"/>
        <p:guide pos="35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360089552"/>
        <c:axId val="360084656"/>
      </c:barChart>
      <c:catAx>
        <c:axId val="360089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360084656"/>
        <c:crosses val="autoZero"/>
        <c:auto val="1"/>
        <c:lblAlgn val="ctr"/>
        <c:lblOffset val="100"/>
        <c:noMultiLvlLbl val="0"/>
      </c:catAx>
      <c:valAx>
        <c:axId val="360084656"/>
        <c:scaling>
          <c:orientation val="minMax"/>
          <c:max val="160"/>
          <c:min val="0"/>
        </c:scaling>
        <c:delete val="0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360089552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f0741e5-c889-4000-a8fa-f8b82682219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部门：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40555" y="371044"/>
            <a:ext cx="10740640" cy="993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鸿蒙性能调优工具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5140" y="1013460"/>
            <a:ext cx="1090930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鸿蒙 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ArkTS 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侧的工程质量与性能调优能力主要由 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DevEco Studio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Code Linter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AppAnalyzer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DevEco Profiler 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 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HiChecker 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等工具共同承载。不同工具的定位并不完全相同：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Code Linter 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更偏静态规则扫描，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AppAnalyzer 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Profiler </a:t>
            </a:r>
            <a:r>
              <a:rPr lang="zh-CN" altLang="en-US" sz="160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更偏构建产物分析与运行期性能分析。</a:t>
            </a:r>
            <a:endParaRPr lang="zh-CN" altLang="en-US" sz="160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610" y="4502785"/>
            <a:ext cx="399923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Code Linter </a:t>
            </a:r>
            <a:r>
              <a:rPr lang="zh-CN" altLang="en-US" sz="1600" b="1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 </a:t>
            </a:r>
            <a:r>
              <a:rPr lang="en-US" altLang="zh-CN" sz="1600" b="1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DevEco Studio </a:t>
            </a:r>
            <a:r>
              <a:rPr lang="zh-CN" altLang="en-US" sz="1600" b="1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提供的代码检查工具。它可以在工程开发过程中对 </a:t>
            </a:r>
            <a:r>
              <a:rPr lang="en-US" altLang="zh-CN" sz="1600" b="1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ArkTS/TS </a:t>
            </a:r>
            <a:r>
              <a:rPr lang="zh-CN" altLang="en-US" sz="1600" b="1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代码进行静态扫描，发现编码规范、代码坏味道、安全、性能、预览器、一多适配、正确性和兼容性等问题。</a:t>
            </a:r>
            <a:endParaRPr lang="zh-CN" altLang="en-US" sz="1600" b="1" i="0">
              <a:solidFill>
                <a:srgbClr val="1515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340360" y="2139950"/>
            <a:ext cx="3839845" cy="199771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4384675" y="2139950"/>
            <a:ext cx="3805555" cy="201168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8394700" y="2139950"/>
            <a:ext cx="3403600" cy="1997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587875" y="4502785"/>
            <a:ext cx="302323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DevEco Profiler </a:t>
            </a:r>
            <a:r>
              <a:rPr lang="zh-CN" altLang="en-US" sz="1600" b="0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用于运行期性能剖析，包括 </a:t>
            </a:r>
            <a:r>
              <a:rPr lang="en-US" altLang="zh-CN" sz="1600" b="0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、内存、帧率、启动、渲染等运行时表现分析。它主要服务于性能调优闭环，不属于编译期静态检查。</a:t>
            </a:r>
            <a:endParaRPr lang="zh-CN" altLang="en-US" sz="1600" b="0" i="0">
              <a:solidFill>
                <a:srgbClr val="1515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84845" y="4502785"/>
            <a:ext cx="351345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AppAnalyzer </a:t>
            </a:r>
            <a:r>
              <a:rPr lang="zh-CN" altLang="en-US" sz="1600" b="0" i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用于分析应用包结构、资源、依赖与构建产物，帮助定位包体、资源使用和产物结构相关问题。它不等同于语言级静态检查，但可以作为性能调优与工程治理的补充工具。</a:t>
            </a:r>
            <a:endParaRPr lang="zh-CN" altLang="en-US" sz="1600" b="0" i="0">
              <a:solidFill>
                <a:srgbClr val="1515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40555" y="371044"/>
            <a:ext cx="10740640" cy="993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鸿蒙性能调优工具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323850" y="869950"/>
          <a:ext cx="11339195" cy="5909945"/>
        </p:xfrm>
        <a:graphic>
          <a:graphicData uri="http://schemas.openxmlformats.org/drawingml/2006/table">
            <a:tbl>
              <a:tblPr/>
              <a:tblGrid>
                <a:gridCol w="2575560"/>
                <a:gridCol w="725805"/>
                <a:gridCol w="2003425"/>
                <a:gridCol w="554355"/>
                <a:gridCol w="1688465"/>
                <a:gridCol w="3791585"/>
              </a:tblGrid>
              <a:tr h="411480">
                <a:tc>
                  <a:txBody>
                    <a:bodyPr/>
                    <a:p>
                      <a:pPr algn="l"/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能力域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承载工具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仓颉承载工具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GAP </a:t>
                      </a:r>
                      <a:endParaRPr lang="en-US" altLang="zh-CN" sz="12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45"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@typescript-eslint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通用语言规则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codelinter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cjlint / cangjie fmt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双方都有语言级规范，规则体系不同。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7240"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@security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安全规则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codelinter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〇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cjlint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覆盖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HarmonyOS/ArkTS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加密算法与接口误用；仓颉公开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cjlint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更偏通用安全编码，如外部输入、日志、序列化、敏感信息。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@performance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性能规则</a:t>
                      </a:r>
                      <a:endParaRPr lang="zh-CN" altLang="en-US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AppAnalyzer / Profiler / HiChecker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有面向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ArkUI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HarmonyOS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的专项性能检查；仓颉公开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cjlint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未见框架性能专项规则。</a:t>
                      </a:r>
                      <a:endParaRPr lang="zh-CN" altLang="en-US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@previewer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预览器规则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DevEco Studio Previewer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独有，服务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ArkUI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组件预览可用性。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@cross-device-app-dev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一多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多端适配规则</a:t>
                      </a:r>
                      <a:endParaRPr lang="zh-CN" altLang="en-US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DevEco Studio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独有，服务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HarmonyOS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多设备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UI/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窗口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断点适配。</a:t>
                      </a:r>
                      <a:endParaRPr lang="zh-CN" altLang="en-US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7240"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@hw-stylistic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风格规则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codelinter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cangjie fmt / cjlint</a:t>
                      </a:r>
                      <a:endParaRPr lang="en-US" altLang="zh-CN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双方均有风格与格式化能力，但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规则依托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ESLint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风格体系，仓颉以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fmt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 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cjlint 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命名</a:t>
                      </a:r>
                      <a:r>
                        <a:rPr lang="en-US" altLang="zh-CN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格式规则承载。</a:t>
                      </a:r>
                      <a:endParaRPr lang="zh-CN" altLang="en-US" sz="1200" b="0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7240"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82132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@correctness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正确性规则</a:t>
                      </a:r>
                      <a:endParaRPr lang="zh-CN" altLang="en-US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 Linter / codelinter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en-US" altLang="zh-CN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ArkTS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覆盖媒体、网络、图片、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ArkUI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状态管理、依赖等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HarmonyOS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应用正确性场景；仓颉公开 </a:t>
                      </a:r>
                      <a:r>
                        <a:rPr lang="en-US" altLang="zh-CN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cjlint </a:t>
                      </a:r>
                      <a:r>
                        <a:rPr lang="zh-CN" altLang="en-US" sz="1200" b="1" i="0">
                          <a:solidFill>
                            <a:srgbClr val="1515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未见同类框架规则。</a:t>
                      </a:r>
                      <a:endParaRPr lang="zh-CN" altLang="en-US" sz="1200" b="1" i="0">
                        <a:solidFill>
                          <a:srgbClr val="15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617" marR="114617" marT="114617" marB="1146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1"/>
          <p:cNvSpPr>
            <a:spLocks noGrp="1"/>
          </p:cNvSpPr>
          <p:nvPr>
            <p:ph type="subTitle" idx="1"/>
          </p:nvPr>
        </p:nvSpPr>
        <p:spPr>
          <a:xfrm>
            <a:off x="729175" y="471777"/>
            <a:ext cx="10740640" cy="993400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953403" y="2284225"/>
          <a:ext cx="6408172" cy="3705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5018"/>
                <a:gridCol w="936978"/>
                <a:gridCol w="948266"/>
                <a:gridCol w="948267"/>
                <a:gridCol w="948267"/>
                <a:gridCol w="914400"/>
                <a:gridCol w="936976"/>
              </a:tblGrid>
              <a:tr h="59519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T-Mobile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Huawei</a:t>
                      </a:r>
                      <a:endParaRPr lang="en-US" sz="95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Orange</a:t>
                      </a:r>
                      <a:endParaRPr lang="en-US" sz="95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</a:rPr>
                        <a:t>China Mobile</a:t>
                      </a:r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cs typeface="Arial" panose="020B0604020202020204" pitchFamily="34" charset="0"/>
                        </a:rPr>
                        <a:t>China Telecom 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j-lt"/>
                          <a:cs typeface="Arial" panose="020B0604020202020204" pitchFamily="34" charset="0"/>
                        </a:rPr>
                        <a:t>China Unicom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22M-40M</a:t>
                      </a: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ts val="21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rgbClr val="C00000"/>
                        </a:solidFill>
                      </a:endParaRPr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 lang="en-US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endParaRPr lang="en-US" sz="3600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 anchor="b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50M-80M</a:t>
                      </a:r>
                      <a:endParaRPr lang="en-US" sz="1040" dirty="0">
                        <a:latin typeface="+mn-lt"/>
                      </a:endParaRPr>
                    </a:p>
                  </a:txBody>
                  <a:tcPr marL="72000"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 marL="90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  <a:endParaRPr lang="en-US" sz="3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18M-25M</a:t>
                      </a:r>
                      <a:endParaRPr lang="en-US" sz="1040" dirty="0">
                        <a:latin typeface="+mn-lt"/>
                      </a:endParaRPr>
                    </a:p>
                  </a:txBody>
                  <a:tcPr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  <a:endParaRPr lang="en-US" sz="3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4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40" b="0" dirty="0">
                          <a:latin typeface="+mn-lt"/>
                          <a:cs typeface="Arial" panose="020B0604020202020204" pitchFamily="34" charset="0"/>
                        </a:rPr>
                        <a:t>22M-35M</a:t>
                      </a:r>
                      <a:endParaRPr lang="en-US" sz="1040" dirty="0">
                        <a:latin typeface="+mn-lt"/>
                      </a:endParaRPr>
                    </a:p>
                  </a:txBody>
                  <a:tcPr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</a:rPr>
                        <a:t>•</a:t>
                      </a:r>
                      <a:endParaRPr lang="en-US" sz="3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accent6"/>
                          </a:solidFill>
                        </a:rPr>
                        <a:t>•</a:t>
                      </a:r>
                      <a:endParaRPr lang="en-US" sz="3600" dirty="0"/>
                    </a:p>
                  </a:txBody>
                  <a:tcPr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1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7" name="Chart 5"/>
          <p:cNvGraphicFramePr/>
          <p:nvPr/>
        </p:nvGraphicFramePr>
        <p:xfrm>
          <a:off x="777047" y="2607376"/>
          <a:ext cx="3852104" cy="2855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Box 22"/>
          <p:cNvSpPr txBox="1">
            <a:spLocks noChangeArrowheads="1"/>
          </p:cNvSpPr>
          <p:nvPr/>
        </p:nvSpPr>
        <p:spPr bwMode="auto">
          <a:xfrm rot="-1200000">
            <a:off x="6777508" y="5077719"/>
            <a:ext cx="5351617" cy="451830"/>
          </a:xfrm>
          <a:prstGeom prst="rect">
            <a:avLst/>
          </a:prstGeom>
          <a:solidFill>
            <a:srgbClr val="FFFFFF">
              <a:alpha val="50196"/>
            </a:srgbClr>
          </a:solidFill>
          <a:ln w="28575" algn="ctr">
            <a:solidFill>
              <a:srgbClr val="C00000"/>
            </a:solidFill>
            <a:miter lim="800000"/>
          </a:ln>
          <a:effectLst/>
        </p:spPr>
        <p:txBody>
          <a:bodyPr wrap="square" lIns="105092" tIns="101810" rIns="105092" bIns="10181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732155"/>
            <a:r>
              <a:rPr lang="zh-CN" altLang="en-US" sz="1600" dirty="0">
                <a:solidFill>
                  <a:srgbClr val="C00000"/>
                </a:solidFill>
                <a:latin typeface="+mn-lt"/>
                <a:ea typeface="黑体" panose="02010609060101010101" pitchFamily="2" charset="-122"/>
              </a:rPr>
              <a:t>此页为图表配色示意，正式使用时请删除此页</a:t>
            </a:r>
            <a:endParaRPr lang="zh-CN" altLang="en-US" sz="1600" dirty="0">
              <a:solidFill>
                <a:srgbClr val="C00000"/>
              </a:solidFill>
              <a:latin typeface="+mn-lt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1412</Words>
  <Application>WPS 演示</Application>
  <PresentationFormat>自定义</PresentationFormat>
  <Paragraphs>178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Calibri</vt:lpstr>
      <vt:lpstr>黑体</vt:lpstr>
      <vt:lpstr>Arial Unicode MS</vt:lpstr>
      <vt:lpstr>等线</vt:lpstr>
      <vt:lpstr>Calibri Light</vt:lpstr>
      <vt:lpstr>Noto Sans SC</vt:lpstr>
      <vt:lpstr>1_Title Slide</vt:lpstr>
      <vt:lpstr>Chart page</vt:lpstr>
      <vt:lpstr>4_Chart page</vt:lpstr>
      <vt:lpstr>End page</vt:lpstr>
      <vt:lpstr>1_Chart page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在路上</cp:lastModifiedBy>
  <cp:revision>18</cp:revision>
  <dcterms:created xsi:type="dcterms:W3CDTF">2018-12-05T07:23:00Z</dcterms:created>
  <dcterms:modified xsi:type="dcterms:W3CDTF">2026-06-06T07:10:57Z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KSOProductBuildVer">
    <vt:lpwstr>2052-12.1.0.26895</vt:lpwstr>
  </property>
  <property fmtid="{D5CDD505-2E9C-101B-9397-08002B2CF9AE}" pid="10" name="ICV">
    <vt:lpwstr>5D28AACB829C4E0980ED6B1281026EB9_12</vt:lpwstr>
  </property>
</Properties>
</file>