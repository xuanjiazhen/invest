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7" r:id="rId3"/>
    <p:sldMasterId id="2147483669" r:id="rId4"/>
    <p:sldMasterId id="2147483671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2318" cy="5602265"/>
          </a:xfrm>
          <a:prstGeom prst="rect">
            <a:avLst/>
          </a:prstGeom>
        </p:spPr>
      </p:pic>
      <p:sp>
        <p:nvSpPr>
          <p:cNvPr id="7" name="L 形 6"/>
          <p:cNvSpPr/>
          <p:nvPr/>
        </p:nvSpPr>
        <p:spPr>
          <a:xfrm rot="5400000">
            <a:off x="7851080" y="2130562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2318" cy="5602265"/>
          </a:xfrm>
          <a:prstGeom prst="rect">
            <a:avLst/>
          </a:prstGeom>
        </p:spPr>
      </p:pic>
      <p:sp>
        <p:nvSpPr>
          <p:cNvPr id="18" name="L 形 17"/>
          <p:cNvSpPr/>
          <p:nvPr/>
        </p:nvSpPr>
        <p:spPr>
          <a:xfrm rot="5400000">
            <a:off x="5821902" y="2568635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2318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/>
        </p:nvSpPr>
        <p:spPr>
          <a:xfrm rot="5400000">
            <a:off x="7927077" y="1657555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2318" cy="5602265"/>
          </a:xfrm>
          <a:prstGeom prst="rect">
            <a:avLst/>
          </a:prstGeom>
        </p:spPr>
      </p:pic>
      <p:sp>
        <p:nvSpPr>
          <p:cNvPr id="13" name="L 形 12"/>
          <p:cNvSpPr/>
          <p:nvPr/>
        </p:nvSpPr>
        <p:spPr>
          <a:xfrm rot="5400000">
            <a:off x="5943349" y="2323519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43" y="1843088"/>
            <a:ext cx="10118371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/>
        </p:nvCxnSpPr>
        <p:spPr>
          <a:xfrm flipH="1">
            <a:off x="1029543" y="1349255"/>
            <a:ext cx="885644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/>
        </p:nvSpPr>
        <p:spPr>
          <a:xfrm>
            <a:off x="918581" y="630373"/>
            <a:ext cx="1107440" cy="650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909" y="456134"/>
            <a:ext cx="1073672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39" y="1501989"/>
            <a:ext cx="1072964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7265" y="1402064"/>
            <a:ext cx="3919605" cy="85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5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8978" y="6270651"/>
            <a:ext cx="1981594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329" y="5976168"/>
            <a:ext cx="2257566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3765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3765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7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09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1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99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23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60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5068" y="6356939"/>
            <a:ext cx="1462934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3863" y="6402806"/>
            <a:ext cx="499547" cy="1504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283" y="6319870"/>
            <a:ext cx="1268612" cy="27115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2211826" y="2931937"/>
            <a:ext cx="1982193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8689" y="2207613"/>
                <a:ext cx="381139" cy="179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897"/>
              <a:ext cx="1982912" cy="3811723"/>
              <a:chOff x="12216278" y="3054897"/>
              <a:chExt cx="1982912" cy="3811723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897"/>
                <a:ext cx="569387" cy="179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99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23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60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348" y="1474269"/>
            <a:ext cx="3982780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/>
        </p:nvSpPr>
        <p:spPr>
          <a:xfrm>
            <a:off x="7976449" y="2794960"/>
            <a:ext cx="3223993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/>
        </p:nvSpPr>
        <p:spPr>
          <a:xfrm>
            <a:off x="7984365" y="1631849"/>
            <a:ext cx="3476434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/>
        </p:nvSpPr>
        <p:spPr>
          <a:xfrm>
            <a:off x="7974765" y="2106124"/>
            <a:ext cx="3480564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590" y="5251150"/>
            <a:ext cx="1868915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99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23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60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234440" cy="146304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17320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66666"/>
                </a:solidFill>
              </a:rPr>
              <a:t>鸿蒙 ArkTS 与仓颉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D1D1A"/>
                </a:solidFill>
              </a:rPr>
              <a:t>检查能力对比汇报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000A"/>
                </a:solidFill>
              </a:rPr>
              <a:t>语言本身 × 应用框架相关 × 工具承载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886200"/>
            <a:ext cx="8046720" cy="713232"/>
          </a:xfrm>
          <a:prstGeom prst="rect">
            <a:avLst/>
          </a:prstGeom>
          <a:solidFill>
            <a:srgbClr val="F6F6F6"/>
          </a:solidFill>
          <a:ln w="7620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3986784"/>
            <a:ext cx="7827264" cy="51206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1D1A"/>
                </a:solidFill>
              </a:rPr>
              <a:t>输出口径：主体分为“语言本身”和“应用框架相关”；HiChecker 纳入主体，但标注为开发期运行检测。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555480" y="5230368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部门：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作者：Codex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日期：2026-06-05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</a:rPr>
              <a:t>Security Level: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结论：ArkTS 强在应用框架检查，仓颉强在语言规范治理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1828800" cy="256032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76172"/>
            <a:ext cx="168249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ArkTS 侧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1828800" cy="256032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376172"/>
            <a:ext cx="168249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仓颉侧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0080" y="1709928"/>
            <a:ext cx="5074920" cy="4251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709928"/>
            <a:ext cx="5074920" cy="4251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47672"/>
            <a:ext cx="4617720" cy="3749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1D1D1A"/>
                </a:solidFill>
              </a:rPr>
              <a:t>工具链：编译器 / 实时检查 / Code Linter / codelinter / HiChecker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优势：ArkUI 性能、HarmonyOS 正确性、API 兼容、多端适配、预览约束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工程化：IDE 快速修复、命令行、增量检查、退出码、报告导出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边界：HiChecker 是开发期运行检测，不属于纯编译期静态检查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1947672"/>
            <a:ext cx="4617720" cy="3749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1D1D1A"/>
                </a:solidFill>
              </a:rPr>
              <a:t>工具链：cjc 编译器 / cjlint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优势：Clean Source 规范、命名/函数/接口/表达式、安全、并发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治理：规则列表、精确屏蔽、注释屏蔽、文件级屏蔽、语法禁用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边界：公开 cjlint 未取证到 HarmonyOS 应用框架规则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5486400"/>
            <a:ext cx="10698480" cy="502920"/>
          </a:xfrm>
          <a:prstGeom prst="rect">
            <a:avLst/>
          </a:prstGeom>
          <a:solidFill>
            <a:srgbClr val="FFF3F3"/>
          </a:solidFill>
          <a:ln w="7620">
            <a:solidFill>
              <a:srgbClr val="E4E4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586984"/>
            <a:ext cx="10479024" cy="3017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1D1A"/>
                </a:solidFill>
              </a:rPr>
              <a:t>核心判断：两者不是简单替代关系，而是“应用框架体验检查”与“语言规范/安全治理检查”的侧重点不同。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TOOLCHAIN 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工具承载关系决定了对比口径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94360" y="1261872"/>
          <a:ext cx="10972800" cy="4434843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645920"/>
                <a:gridCol w="6583680"/>
              </a:tblGrid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生态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主要承载能力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编译器 / 实时检查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编译期 / 编辑期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语法语义、严格类型、实时错误/警告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IDE 静态检查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规范、安全、性能、预览、多端、正确性、兼容性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codelinter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命令行静态检查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CI 门禁、QuickFix、增量、json/xml/html 输出、退出码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HiChecker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开发期运行检测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耗时调用、Ability 泄漏、ArkUI 性能；日志或 crash 反馈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cjc 编译器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编译期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静态强类型、语法语义、模块编译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cjlint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命令行静态检查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Clean Source、并发、安全、序列化、语法禁用、屏蔽</a:t>
                      </a:r>
                      <a:endParaRPr lang="en-US" sz="82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94360" y="5788152"/>
            <a:ext cx="10972800" cy="457200"/>
          </a:xfrm>
          <a:prstGeom prst="rect">
            <a:avLst/>
          </a:prstGeom>
          <a:solidFill>
            <a:srgbClr val="F6F6F6"/>
          </a:solidFill>
          <a:ln w="7620">
            <a:solidFill>
              <a:srgbClr val="E4E4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5888736"/>
            <a:ext cx="10753344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1D1A"/>
                </a:solidFill>
              </a:rPr>
              <a:t>汇报中每个能力项都绑定到工具，避免把语言能力、IDE 能力、命令行能力和运行检测混在一起。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CAPABILITY MATRIX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总览矩阵：两大类能力呈现明显分工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38912" y="1170432"/>
          <a:ext cx="11292840" cy="5074920"/>
        </p:xfrm>
        <a:graphic>
          <a:graphicData uri="http://schemas.openxmlformats.org/drawingml/2006/table">
            <a:tbl>
              <a:tblPr/>
              <a:tblGrid>
                <a:gridCol w="1828800"/>
                <a:gridCol w="685800"/>
                <a:gridCol w="2377440"/>
                <a:gridCol w="2240280"/>
                <a:gridCol w="3749040"/>
              </a:tblGrid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能力项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大类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/ 工具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 / 工具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差异结论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类型与显式边界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语言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支持：编译器、Code Linter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支持：cjc、cjlint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专查 any；仓颉以静态强类型为底座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命名/格式/坏味道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语言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支持：Code Linter/codelinter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支持：cjlint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两侧均支持，仓颉默认清单更集中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安全编码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语言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支持：@security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支持：G.CHK/G.SER/G.OTH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偏算法安全；仓颉偏通用安全治理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并发/锁/数据竞争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语言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部分：默认规则较弱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支持：G.CON/P.01/P.02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仓颉明显更强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禁用语法/语言子集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语言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部分：自定义 selector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支持：G.SYN.01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仓颉开箱治理能力更强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CI/配置/屏蔽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语言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支持：codelinter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支持：cjlint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多 QuickFix/增量/退出码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ArkUI 性能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框架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支持：@performance/HiChecker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未取证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明显优势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API 兼容/正确性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框架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支持：@compatibility/@correctness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未取证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面向 HarmonyOS 场景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多端/预览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框架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支持：@cross-device/@previewer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不适用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7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应用框架专属</a:t>
                      </a:r>
                      <a:endParaRPr lang="en-US" sz="67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LANGUAGE CHECKS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语言本身：仓颉覆盖并发与语法治理，ArkTS 覆盖 TS 风险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1828800" cy="256032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76172"/>
            <a:ext cx="168249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ArkTS 语言侧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1828800" cy="256032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376172"/>
            <a:ext cx="168249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仓颉语言侧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0080" y="1709928"/>
            <a:ext cx="5074920" cy="4251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709928"/>
            <a:ext cx="5074920" cy="4251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47672"/>
            <a:ext cx="4617720" cy="3749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1D1D1A"/>
                </a:solidFill>
              </a:rPr>
              <a:t>类型风险：no-explicit-any、no-unsafe-*、显式返回类型、模块边界类型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命名/风格：naming-convention、file-naming-convention、缩进/空格/行宽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坏味道：动态 delete、for-in 遍历数组、this alias、不必要泛型约束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工程治理：code-linter.json5、overrides、eslint-disable、QuickFix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1947672"/>
            <a:ext cx="4617720" cy="3749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1D1D1A"/>
                </a:solidFill>
              </a:rPr>
              <a:t>Clean Source：G.NAM、G.FMT、G.FUN、G.ITF、G.OPR、G.EXP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安全：G.CHK、G.ERR、G.SER、G.SEC、G.OTH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并发：G.CON、P.01、P.02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语法治理：G.SYN.01 禁用 Import/Spawn/Foreign/While/Class/Generic 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FRAMEWORK CHECKS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应用框架相关：ArkTS 对 HarmonyOS 场景有专门规则族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21792" y="1234440"/>
          <a:ext cx="10835640" cy="4709160"/>
        </p:xfrm>
        <a:graphic>
          <a:graphicData uri="http://schemas.openxmlformats.org/drawingml/2006/table">
            <a:tbl>
              <a:tblPr/>
              <a:tblGrid>
                <a:gridCol w="1371600"/>
                <a:gridCol w="4297680"/>
                <a:gridCol w="2103120"/>
                <a:gridCol w="2743200"/>
              </a:tblGrid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框架能力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子类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仓颉公开规则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ArkUI 性能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状态变量、组件复用、动画、LazyForEach、Web、DataShare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Linter/codelinter/HiChecker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未取证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HarmonyOS 正确性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媒体、音频、网络监听、状态模型、冗余依赖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Linter/codelinter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未取证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API 兼容性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 SDK/API 使用边界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Linter/codelinter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未取证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多端体验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颜色、字号、单位、栅格、热区、断点、窗口监听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Linter/codelinter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未取证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预览约束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@Entry/@Preview、默认值、页面级方法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Linter/codelinter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不适用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开发期运行检测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耗时调用、Ability 泄漏、ArkUI 性能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HiChecker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不适用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1792" y="5989320"/>
            <a:ext cx="10835640" cy="384048"/>
          </a:xfrm>
          <a:prstGeom prst="rect">
            <a:avLst/>
          </a:prstGeom>
          <a:solidFill>
            <a:srgbClr val="FFF3F3"/>
          </a:solidFill>
          <a:ln w="7620">
            <a:solidFill>
              <a:srgbClr val="E4E4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6089904"/>
            <a:ext cx="10616184" cy="1828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1D1A"/>
                </a:solidFill>
              </a:rPr>
              <a:t>注意：HiChecker 纳入主体，是为了体现应用框架问题发现闭环；其性质是开发期运行检测。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DIFFERENCE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差异项：ArkTS 的应用框架检查覆盖更多 HarmonyOS 场景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94360" y="1234440"/>
          <a:ext cx="10972800" cy="4617720"/>
        </p:xfrm>
        <a:graphic>
          <a:graphicData uri="http://schemas.openxmlformats.org/drawingml/2006/table">
            <a:tbl>
              <a:tblPr/>
              <a:tblGrid>
                <a:gridCol w="1325880"/>
                <a:gridCol w="4572000"/>
                <a:gridCol w="2103120"/>
                <a:gridCol w="2971800"/>
              </a:tblGrid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子类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检查什么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仓颉近似能力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ArkUI 性能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组件复用、状态变量、动画、图片、Web、资源释放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 / HiChecker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无直接公开规则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正确性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AVSession、音频中断、图像格式、网络监听、状态模型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无直接公开规则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兼容性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API 与 SDK/平台兼容边界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无直接公开规则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多端体验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颜色、字号、单位、栅格、热区、系统断点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无直接公开规则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预览约束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@Entry/@Preview 默认值与页面方法限制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Code Linter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不适用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94360" y="5897880"/>
            <a:ext cx="10972800" cy="457200"/>
          </a:xfrm>
          <a:prstGeom prst="rect">
            <a:avLst/>
          </a:prstGeom>
          <a:solidFill>
            <a:srgbClr val="F6F6F6"/>
          </a:solidFill>
          <a:ln w="7620">
            <a:solidFill>
              <a:srgbClr val="E4E4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5998464"/>
            <a:ext cx="10753344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1D1A"/>
                </a:solidFill>
              </a:rPr>
              <a:t>结论：应用框架相关能力是 ArkTS 侧最主要优势，不宜和仓颉语言规范类规则直接拉平比较。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DIFFERENCE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差异项：仓颉并发检查更直接覆盖锁和数据竞争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94360" y="1234440"/>
          <a:ext cx="10972800" cy="4617720"/>
        </p:xfrm>
        <a:graphic>
          <a:graphicData uri="http://schemas.openxmlformats.org/drawingml/2006/table">
            <a:tbl>
              <a:tblPr/>
              <a:tblGrid>
                <a:gridCol w="1417320"/>
                <a:gridCol w="3931920"/>
                <a:gridCol w="2286000"/>
                <a:gridCol w="3337560"/>
              </a:tblGrid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子类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做什么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工具/规则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近似能力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锁对象暴露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禁止把内部锁暴露给不可信代码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cjlint G.CON.01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无同粒度默认规则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异常路径释放锁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异常出现时仍需释放已持有锁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cjlint G.CON.02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依赖审查/自定义规则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线程安全覆写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禁止非线程安全函数覆写线程安全函数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cjlint G.CON.03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无同粒度默认规则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死锁规避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按相同顺序请求锁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cjlint P.01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无同粒度默认规则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数据竞争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避免 data race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cjlint P.02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语言/运行期工具间接发现</a:t>
                      </a:r>
                      <a:endParaRPr lang="en-US" sz="84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DIFFERENCE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差异项：安全检查侧重点不同，ArkTS 偏算法，仓颉偏治理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66928" y="1234440"/>
          <a:ext cx="11064240" cy="4709160"/>
        </p:xfrm>
        <a:graphic>
          <a:graphicData uri="http://schemas.openxmlformats.org/drawingml/2006/table">
            <a:tbl>
              <a:tblPr/>
              <a:tblGrid>
                <a:gridCol w="1371600"/>
                <a:gridCol w="3154680"/>
                <a:gridCol w="3200400"/>
                <a:gridCol w="2880360"/>
              </a:tblGrid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安全子类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差异判断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算法安全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禁止 AES ECB、弱 DH/DSA/RSA/3DES、弱 hash/MAC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公开默认规则未以算法族为主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更强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输入校验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可自定义规则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G.CHK.01 信任边界数据校验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仓颉更直接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日志敏感信息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高频 Hilog/部分安全规则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G.CHK.02、G.OTH.01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仓颉更直接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硬编码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可自定义规则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G.OTH.02 禁止敏感信息硬编码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仓颉更直接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序列化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未见专门规则族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G.SER.01~03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仓颉更直接</a:t>
                      </a:r>
                      <a:endParaRPr lang="en-US"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DIFFERENCE 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差异项：仓颉 G.SYN.01 更适合统一语言子集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170432"/>
            <a:ext cx="10789920" cy="502920"/>
          </a:xfrm>
          <a:prstGeom prst="rect">
            <a:avLst/>
          </a:prstGeom>
          <a:solidFill>
            <a:srgbClr val="F6F6F6"/>
          </a:solidFill>
          <a:ln w="7620">
            <a:solidFill>
              <a:srgbClr val="E4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271016"/>
            <a:ext cx="10570464" cy="3017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1D1A"/>
                </a:solidFill>
              </a:rPr>
              <a:t>cjlint 可将 G.SYN.01 加入规则列表，并在 structural_rule_G_SYN_01.json 配置禁用语法关键字。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10332720" cy="713232"/>
          </a:xfrm>
          <a:prstGeom prst="rect">
            <a:avLst/>
          </a:prstGeom>
          <a:solidFill>
            <a:srgbClr val="FFF3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12264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000A"/>
                </a:solidFill>
              </a:rPr>
              <a:t>依赖与互操作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09397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D1D1A"/>
                </a:solidFill>
              </a:rPr>
              <a:t>Import / Foreign / MacroQuote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0" y="208483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控制包导入、跨语言和宏定义边界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" y="2834640"/>
            <a:ext cx="1033272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980944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000A"/>
                </a:solidFill>
              </a:rPr>
              <a:t>并发与流程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96265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D1D1A"/>
                </a:solidFill>
              </a:rPr>
              <a:t>Spawn / Synchronized / While / TryCatch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0" y="295351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降低复杂并发、死循环和错误吞噬风险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1033272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849624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000A"/>
                </a:solidFill>
              </a:rPr>
              <a:t>类型系统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83133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D1D1A"/>
                </a:solidFill>
              </a:rPr>
              <a:t>Class / Interface / Struct / Generic / Enum / Type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0" y="382219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统一团队可接受语言特性范围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" y="4572000"/>
            <a:ext cx="1033272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718304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000A"/>
                </a:solidFill>
              </a:rPr>
              <a:t>副作用治理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470001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D1D1A"/>
                </a:solidFill>
              </a:rPr>
              <a:t>GlobalVariable / Operator / HigherOrderFunc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469087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降低副作用、重载和高阶复杂度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5715000"/>
            <a:ext cx="10789920" cy="438912"/>
          </a:xfrm>
          <a:prstGeom prst="rect">
            <a:avLst/>
          </a:prstGeom>
          <a:solidFill>
            <a:srgbClr val="F6F6F6"/>
          </a:solidFill>
          <a:ln w="7620">
            <a:solidFill>
              <a:srgbClr val="E4E4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5815584"/>
            <a:ext cx="10570464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1D1A"/>
                </a:solidFill>
              </a:rPr>
              <a:t>ArkTS 可通过 no-restricted-syntax 达成类似目标，但需要团队自定义 AST selector，默认开箱程度低于仓颉。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DIFFERENCE 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差异项：ArkTS 工程化链路更完整，仓颉屏蔽机制更细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658368" y="1234440"/>
          <a:ext cx="10698480" cy="4800600"/>
        </p:xfrm>
        <a:graphic>
          <a:graphicData uri="http://schemas.openxmlformats.org/drawingml/2006/table">
            <a:tbl>
              <a:tblPr/>
              <a:tblGrid>
                <a:gridCol w="1828800"/>
                <a:gridCol w="4343400"/>
                <a:gridCol w="4526280"/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工程化子类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ArkTS codelinter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仓颉 cjlint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配置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--config 指定 code-linter.json5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cjlint_rule_list.json / exclude_lists.json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自动修复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--fix / IDE QuickFix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公开文档未见自动修复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增量检查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--incremental 检查 Git 增量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公开文档未见 Git 增量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退出码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--exit-on error,warn,suggestion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可解析 json/csv 报告间接实现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输出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default/json/xml/html + Excel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json/csv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屏蔽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eslint-disable / Ignore UI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D1D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规则级、注释级、文件级、gitignore 风格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1148" marR="41148" marT="41148" marB="41148" anchor="ctr">
                    <a:lnL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RECOMMENDATIONS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落地建议：按语言治理和框架体验分两条线配置门禁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1828800" cy="256032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376172"/>
            <a:ext cx="168249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语言治理线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1828800" cy="256032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376172"/>
            <a:ext cx="168249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框架体验线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0080" y="1709928"/>
            <a:ext cx="5074920" cy="4251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709928"/>
            <a:ext cx="5074920" cy="4251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47672"/>
            <a:ext cx="4617720" cy="3749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1D1D1A"/>
                </a:solidFill>
              </a:rPr>
              <a:t>ArkTS：开启 recommended + 安全/性能/正确性/兼容性规则，必要时补 no-restricted-syntax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仓颉：以 cjlint 默认规则为基线，补充 G.SYN.01 和 G.VAR.03 等可选规则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门禁：统一输出报告，按风险等级设定阻断阈值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1947672"/>
            <a:ext cx="4617720" cy="37490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1D1D1A"/>
                </a:solidFill>
              </a:rPr>
              <a:t>ArkTS：重点启用 @performance、@cross-device-app-dev、@correctness、@compatibility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开发期：对 ArkUI 性能和泄漏类问题启用 HiChecker 做运行检测</a:t>
            </a:r>
            <a:endParaRPr lang="en-US" sz="1000" dirty="0"/>
          </a:p>
          <a:p>
            <a:r>
              <a:rPr lang="en-US" sz="1000" dirty="0">
                <a:solidFill>
                  <a:srgbClr val="1D1D1A"/>
                </a:solidFill>
              </a:rPr>
              <a:t>仓颉：暂按公开规则保守处理，授权文档补证后再评估框架能力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5559552"/>
            <a:ext cx="10698480" cy="493776"/>
          </a:xfrm>
          <a:prstGeom prst="rect">
            <a:avLst/>
          </a:prstGeom>
          <a:solidFill>
            <a:srgbClr val="FFF3F3"/>
          </a:solidFill>
          <a:ln w="7620">
            <a:solidFill>
              <a:srgbClr val="E4E4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660136"/>
            <a:ext cx="10479024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1D1A"/>
                </a:solidFill>
              </a:rPr>
              <a:t>建议管理口径：仓颉负责语言规范/安全/并发治理，ArkTS 负责 HarmonyOS 应用体验和框架正确性治理。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468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C7000A"/>
                </a:solidFill>
              </a:rPr>
              <a:t>SOURCES &amp; BOUNDARIES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1D1A"/>
                </a:solidFill>
              </a:rPr>
              <a:t>来源与边界：仓颉授权页不可读，结论采用公开文档保守表述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109728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10607040" cy="29260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D1D1A"/>
                </a:solidFill>
              </a:rPr>
              <a:t>ArkTS：代码检查、实时检查、Code Linter、规则清单、codelinter 命令行、HiChecker 指南与 API。</a:t>
            </a:r>
            <a:endParaRPr lang="en-US" sz="1100" dirty="0"/>
          </a:p>
          <a:p>
            <a:r>
              <a:rPr lang="en-US" sz="1100" dirty="0">
                <a:solidFill>
                  <a:srgbClr val="1D1D1A"/>
                </a:solidFill>
              </a:rPr>
              <a:t>仓颉：公开静态检查工具文档、Cangjie/cangjie_tools cjlint 指南。</a:t>
            </a:r>
            <a:endParaRPr lang="en-US" sz="1100" dirty="0"/>
          </a:p>
          <a:p>
            <a:r>
              <a:rPr lang="en-US" sz="1100" dirty="0">
                <a:solidFill>
                  <a:srgbClr val="1D1D1A"/>
                </a:solidFill>
              </a:rPr>
              <a:t>仓颉华为开发者联盟 cj-cjlint_manual 页面当前提示需授权账号查阅，未能读取正文。</a:t>
            </a:r>
            <a:endParaRPr lang="en-US" sz="1100" dirty="0"/>
          </a:p>
          <a:p>
            <a:r>
              <a:rPr lang="en-US" sz="1100" dirty="0">
                <a:solidFill>
                  <a:srgbClr val="1D1D1A"/>
                </a:solidFill>
              </a:rPr>
              <a:t>报告中“不支持/未取证”表示公开文档未见对应能力，不代表产品内部一定不存在。</a:t>
            </a:r>
            <a:endParaRPr lang="en-US" sz="1100" dirty="0"/>
          </a:p>
          <a:p>
            <a:r>
              <a:rPr lang="en-US" sz="1100" dirty="0">
                <a:solidFill>
                  <a:srgbClr val="1D1D1A"/>
                </a:solidFill>
              </a:rPr>
              <a:t>HiChecker 纳入应用框架主体，但性质是开发期运行检测，不属于编译期静态检查。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892040"/>
            <a:ext cx="10607040" cy="731520"/>
          </a:xfrm>
          <a:prstGeom prst="rect">
            <a:avLst/>
          </a:prstGeom>
          <a:solidFill>
            <a:srgbClr val="F6F6F6"/>
          </a:solidFill>
          <a:ln w="7620">
            <a:solidFill>
              <a:srgbClr val="E4E4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992624"/>
            <a:ext cx="10387584" cy="5303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1D1A"/>
                </a:solidFill>
              </a:rPr>
              <a:t>参考华为风格要点：16:9、浅底、红黑灰主色、页脚密级/页码、章节化叙事、矩阵/流程/分层图承载信息。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7000A"/>
          </a:solidFill>
          <a:ln w="12700">
            <a:solidFill>
              <a:srgbClr val="C70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1D1A"/>
                </a:solidFill>
              </a:rPr>
              <a:t>Thank you.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" y="2971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检查能力对比汇报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" y="6556248"/>
            <a:ext cx="37490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Huawei Proprietary - Restricted Distribution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7777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5242</Words>
  <Application>WPS 演示</Application>
  <PresentationFormat>On-screen Show (16:9)</PresentationFormat>
  <Paragraphs>602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Arial</vt:lpstr>
      <vt:lpstr>微软雅黑</vt:lpstr>
      <vt:lpstr>微软雅黑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Huawei-style research deck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鸿蒙ArkTS与仓颉检查能力对比汇报</dc:title>
  <dc:creator>Codex</dc:creator>
  <dc:subject>鸿蒙 ArkTS 与仓颉检查能力对比</dc:subject>
  <cp:lastModifiedBy>在路上</cp:lastModifiedBy>
  <cp:revision>2</cp:revision>
  <dcterms:created xsi:type="dcterms:W3CDTF">2026-06-05T13:53:00Z</dcterms:created>
  <dcterms:modified xsi:type="dcterms:W3CDTF">2026-06-05T13:56:25Z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2DD178582A104105887EB0400D2791FF_12</vt:lpwstr>
  </property>
  <property fmtid="{D5CDD505-2E9C-101B-9397-08002B2CF9AE}" pid="3" name="KSOProductBuildVer">
    <vt:lpwstr>2052-12.1.0.26895</vt:lpwstr>
  </property>
</Properties>
</file>